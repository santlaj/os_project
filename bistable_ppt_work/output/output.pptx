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e9576d187499c" /><Relationship Type="http://schemas.openxmlformats.org/officeDocument/2006/relationships/extended-properties" Target="/docProps/app.xml" Id="Rcb8a3e73b5d940e2" /><Relationship Type="http://schemas.openxmlformats.org/officeDocument/2006/relationships/officeDocument" Target="/ppt/presentation.xml" Id="R227e8845d1ff4f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e9cfe881f4995"/>
  </p:sldMasterIdLst>
  <p:notesMasterIdLst>
    <p:notesMasterId xmlns:r="http://schemas.openxmlformats.org/officeDocument/2006/relationships" r:id="R027ae9b37af54055"/>
  </p:notesMasterIdLst>
  <p:sldIdLst>
    <p:sldId xmlns:r="http://schemas.openxmlformats.org/officeDocument/2006/relationships" id="256" r:id="R985ce4575b8d44c3"/>
    <p:sldId xmlns:r="http://schemas.openxmlformats.org/officeDocument/2006/relationships" id="257" r:id="Rb8a02ecf482f47e5"/>
    <p:sldId xmlns:r="http://schemas.openxmlformats.org/officeDocument/2006/relationships" id="258" r:id="R68722061f17847bd"/>
    <p:sldId xmlns:r="http://schemas.openxmlformats.org/officeDocument/2006/relationships" id="259" r:id="R92d1f36be06c419b"/>
    <p:sldId xmlns:r="http://schemas.openxmlformats.org/officeDocument/2006/relationships" id="260" r:id="Rdecb2d173b924a20"/>
    <p:sldId xmlns:r="http://schemas.openxmlformats.org/officeDocument/2006/relationships" id="261" r:id="R3d2ee46e83fa4a2c"/>
    <p:sldId xmlns:r="http://schemas.openxmlformats.org/officeDocument/2006/relationships" id="262" r:id="R0d0bb21b07464e45"/>
    <p:sldId xmlns:r="http://schemas.openxmlformats.org/officeDocument/2006/relationships" id="263" r:id="R9ad16f8388a4422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e9cfe881f4995" /><Relationship Type="http://schemas.openxmlformats.org/officeDocument/2006/relationships/theme" Target="/ppt/theme/theme1.xml" Id="R83977f2acc224d31" /><Relationship Type="http://schemas.openxmlformats.org/officeDocument/2006/relationships/notesMaster" Target="/ppt/notesMasters/notesMaster1.xml" Id="R027ae9b37af54055" /><Relationship Type="http://schemas.openxmlformats.org/officeDocument/2006/relationships/presProps" Target="/ppt/presProps.xml" Id="R210a89cc088e49e4" /><Relationship Type="http://schemas.openxmlformats.org/officeDocument/2006/relationships/viewProps" Target="/ppt/viewProps.xml" Id="Rbb2d03055c2043d9" /><Relationship Type="http://schemas.openxmlformats.org/officeDocument/2006/relationships/tableStyles" Target="/ppt/tableStyles.xml" Id="R49978de6fc9c48cb" /><Relationship Type="http://schemas.openxmlformats.org/officeDocument/2006/relationships/slide" Target="/ppt/slides/slide1.xml" Id="R985ce4575b8d44c3" /><Relationship Type="http://schemas.openxmlformats.org/officeDocument/2006/relationships/slide" Target="/ppt/slides/slide2.xml" Id="Rb8a02ecf482f47e5" /><Relationship Type="http://schemas.openxmlformats.org/officeDocument/2006/relationships/slide" Target="/ppt/slides/slide3.xml" Id="R68722061f17847bd" /><Relationship Type="http://schemas.openxmlformats.org/officeDocument/2006/relationships/slide" Target="/ppt/slides/slide4.xml" Id="R92d1f36be06c419b" /><Relationship Type="http://schemas.openxmlformats.org/officeDocument/2006/relationships/slide" Target="/ppt/slides/slide5.xml" Id="Rdecb2d173b924a20" /><Relationship Type="http://schemas.openxmlformats.org/officeDocument/2006/relationships/slide" Target="/ppt/slides/slide6.xml" Id="R3d2ee46e83fa4a2c" /><Relationship Type="http://schemas.openxmlformats.org/officeDocument/2006/relationships/slide" Target="/ppt/slides/slide7.xml" Id="R0d0bb21b07464e45" /><Relationship Type="http://schemas.openxmlformats.org/officeDocument/2006/relationships/slide" Target="/ppt/slides/slide8.xml" Id="R9ad16f8388a442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9e4c72e53f540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ef0f08cb444654" /><Relationship Type="http://schemas.openxmlformats.org/officeDocument/2006/relationships/notesMaster" Target="/ppt/notesMasters/notesMaster1.xml" Id="R5126f90c377f4d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26e5157923419e" /><Relationship Type="http://schemas.openxmlformats.org/officeDocument/2006/relationships/notesMaster" Target="/ppt/notesMasters/notesMaster1.xml" Id="R32cc7bd7e4f24f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4965d7b1ae4777" /><Relationship Type="http://schemas.openxmlformats.org/officeDocument/2006/relationships/notesMaster" Target="/ppt/notesMasters/notesMaster1.xml" Id="R097eeb64a29841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557162a6504a77" /><Relationship Type="http://schemas.openxmlformats.org/officeDocument/2006/relationships/notesMaster" Target="/ppt/notesMasters/notesMaster1.xml" Id="R2b8bc53d34904c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f3000f7e3e4781" /><Relationship Type="http://schemas.openxmlformats.org/officeDocument/2006/relationships/notesMaster" Target="/ppt/notesMasters/notesMaster1.xml" Id="R50ffb7e2449c45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602e9a054744d7" /><Relationship Type="http://schemas.openxmlformats.org/officeDocument/2006/relationships/notesMaster" Target="/ppt/notesMasters/notesMaster1.xml" Id="R582b7eb0e7e048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5cb09bacb7493e" /><Relationship Type="http://schemas.openxmlformats.org/officeDocument/2006/relationships/notesMaster" Target="/ppt/notesMasters/notesMaster1.xml" Id="Redfeaea5d83841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d22e19d15a471d" /><Relationship Type="http://schemas.openxmlformats.org/officeDocument/2006/relationships/notesMaster" Target="/ppt/notesMasters/notesMaster1.xml" Id="Rb4b53bdce87547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f6de4d4d34fd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dcc7d9cdea4b51" /><Relationship Type="http://schemas.openxmlformats.org/officeDocument/2006/relationships/slideLayout" Target="/ppt/slideLayouts/slideLayout2.xml" Id="R335c590e7d9f41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5c590e7d9f41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3da6885e394840" /><Relationship Type="http://schemas.openxmlformats.org/officeDocument/2006/relationships/notesSlide" Target="/ppt/notesSlides/notesSlide1.xml" Id="Rf44f1e18fbfe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7bde75f3a64ce0" /><Relationship Type="http://schemas.openxmlformats.org/officeDocument/2006/relationships/notesSlide" Target="/ppt/notesSlides/notesSlide2.xml" Id="Rc0dbede93c1546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48aeffa7c48f6" /><Relationship Type="http://schemas.openxmlformats.org/officeDocument/2006/relationships/notesSlide" Target="/ppt/notesSlides/notesSlide3.xml" Id="Ra3afa076e3b640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a13d5f7d74e38" /><Relationship Type="http://schemas.openxmlformats.org/officeDocument/2006/relationships/notesSlide" Target="/ppt/notesSlides/notesSlide4.xml" Id="Rf1f32d9c50a1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4284025124135" /><Relationship Type="http://schemas.openxmlformats.org/officeDocument/2006/relationships/notesSlide" Target="/ppt/notesSlides/notesSlide5.xml" Id="R6ac19d16b8a34f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6666fa91a54b19" /><Relationship Type="http://schemas.openxmlformats.org/officeDocument/2006/relationships/notesSlide" Target="/ppt/notesSlides/notesSlide6.xml" Id="R01067d91443c4b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5bf3e4234e4e26" /><Relationship Type="http://schemas.openxmlformats.org/officeDocument/2006/relationships/notesSlide" Target="/ppt/notesSlides/notesSlide7.xml" Id="R8616c61d0bc54e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d9aee68104c40" /><Relationship Type="http://schemas.openxmlformats.org/officeDocument/2006/relationships/notesSlide" Target="/ppt/notesSlides/notesSlide8.xml" Id="Rb8739030500948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-title">
            <a:extLst xmlns:a="http://schemas.openxmlformats.org/drawingml/2006/main">
              <a:ext uri="{FF2B5EF4-FFF2-40B4-BE49-F238E27FC236}">
                <a16:creationId xmlns:a16="http://schemas.microsoft.com/office/drawing/2014/main" id="{094C3DFB-AAC5-4591-B96B-47E4D3BF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41148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F172A"/>
                </a:solidFill>
              </a:defRPr>
            </a:pPr>
            <a:r>
              <a:rPr sz="5850" b="1">
                <a:solidFill>
                  <a:srgbClr val="0F172A"/>
                </a:solidFill>
              </a:rPr>
              <a:t>Bistable</a:t>
            </a:r>
          </a:p>
          <a:p xmlns:a="http://schemas.openxmlformats.org/drawingml/2006/main">
            <a:pPr>
              <a:defRPr sz="5850" b="1">
                <a:solidFill>
                  <a:srgbClr val="0F172A"/>
                </a:solidFill>
              </a:defRPr>
            </a:pPr>
            <a:r>
              <a:rPr sz="5850" b="1">
                <a:solidFill>
                  <a:srgbClr val="0F172A"/>
                </a:solidFill>
              </a:rPr>
              <a:t>Multivibrator</a:t>
            </a:r>
          </a:p>
        </p:txBody>
      </p:sp>
      <p:sp>
        <p:nvSpPr>
          <p:cNvPr id="2" name="hero-rule">
            <a:extLst xmlns:a="http://schemas.openxmlformats.org/drawingml/2006/main">
              <a:ext uri="{FF2B5EF4-FFF2-40B4-BE49-F238E27FC236}">
                <a16:creationId xmlns:a16="http://schemas.microsoft.com/office/drawing/2014/main" id="{60CC38A3-1C25-4C47-8530-7FB3A62A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" name="hero-chip">
            <a:extLst xmlns:a="http://schemas.openxmlformats.org/drawingml/2006/main">
              <a:ext uri="{FF2B5EF4-FFF2-40B4-BE49-F238E27FC236}">
                <a16:creationId xmlns:a16="http://schemas.microsoft.com/office/drawing/2014/main" id="{B58C31D6-2AC8-453C-A564-427CBA88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619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Simple English PPT</a:t>
            </a:r>
          </a:p>
        </p:txBody>
      </p:sp>
      <p:sp>
        <p:nvSpPr>
          <p:cNvPr id="4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F8571368-B6E3-4E7B-903D-5E52B498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868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A bistable multivibrator is a circuit that has two stable states. It works like a basic memory element and is also called a flip-flop.</a:t>
            </a:r>
          </a:p>
        </p:txBody>
      </p:sp>
      <p:sp>
        <p:nvSpPr>
          <p:cNvPr id="5" name="hero-footer">
            <a:extLst xmlns:a="http://schemas.openxmlformats.org/drawingml/2006/main">
              <a:ext uri="{FF2B5EF4-FFF2-40B4-BE49-F238E27FC236}">
                <a16:creationId xmlns:a16="http://schemas.microsoft.com/office/drawing/2014/main" id="{8F520503-F3AB-4250-A645-F2723F80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Prepared in simple classroom language</a:t>
            </a:r>
          </a:p>
        </p:txBody>
      </p:sp>
    </p:spTree>
    <p:extLst>
      <p:ext uri="{BB962C8B-B14F-4D97-AF65-F5344CB8AC3E}">
        <p14:creationId xmlns:p14="http://schemas.microsoft.com/office/powerpoint/2010/main" val="227499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AF6795-79E5-4EFA-9FB8-1825FE86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What Is A Bistable Multivibrator?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D7C8D5E-415E-44E2-AC96-F24FCC12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D721A88-B33A-44A4-87C5-55F3D7CB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638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It stays in one of two stable conditions until a trigger changes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770D6-DC25-491F-BF02-23EFF14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531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It is an electronic circuit that can remember one of two output states.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2015F-43F2-4E40-8B05-B5826FA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68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It has two stable states.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CDF27-4E4D-4BDA-9A2A-851C257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It stores one bit of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084F2-9946-4B91-8546-A179849A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14700"/>
            <a:ext cx="5791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It changes state only when a trigger pulse is applied.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BD11B-E82E-4A4B-96B2-00210241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57650"/>
            <a:ext cx="3924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Another common name is flip-flop.</a:t>
            </a:r>
          </a:p>
        </p:txBody>
      </p:sp>
    </p:spTree>
    <p:extLst>
      <p:ext uri="{BB962C8B-B14F-4D97-AF65-F5344CB8AC3E}">
        <p14:creationId xmlns:p14="http://schemas.microsoft.com/office/powerpoint/2010/main" val="508210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B9E6ED-4501-4D07-BDDC-B0F7B146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The Two Stable States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92F7A75-AD0D-4926-A530-852B80B8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23F85E-4243-4597-83F1-AF067964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5010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output can stay in either state for a long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DD508-6067-4A6E-BC37-6574571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085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D4ED8"/>
                </a:solidFill>
              </a:defRPr>
            </a:pPr>
            <a:r>
              <a:rPr sz="3000" b="1">
                <a:solidFill>
                  <a:srgbClr val="1D4ED8"/>
                </a:solidFill>
              </a:rPr>
              <a:t>State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F1564-E746-4F0B-A3A6-99797F8D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847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F172A"/>
                </a:solidFill>
              </a:defRPr>
            </a:pPr>
            <a:r>
              <a:rPr sz="2250">
                <a:solidFill>
                  <a:srgbClr val="0F172A"/>
                </a:solidFill>
              </a:rPr>
              <a:t>Q = 1 and Q'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A6539-DCB9-4C09-98C7-F366E29D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499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The first side is ON and the second side is 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1692D-3B7A-4874-BAB6-EB17E948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579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The circuit keeps this state until another pulse 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245DF-8933-4986-9404-4B2E9A5C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43150"/>
            <a:ext cx="1085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2410C"/>
                </a:solidFill>
              </a:defRPr>
            </a:pPr>
            <a:r>
              <a:rPr sz="3000" b="1">
                <a:solidFill>
                  <a:srgbClr val="C2410C"/>
                </a:solidFill>
              </a:rPr>
              <a:t>State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BD10B-2D1D-4D7F-A2AB-605889B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1847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F172A"/>
                </a:solidFill>
              </a:defRPr>
            </a:pPr>
            <a:r>
              <a:rPr sz="2250">
                <a:solidFill>
                  <a:srgbClr val="0F172A"/>
                </a:solidFill>
              </a:rPr>
              <a:t>Q = 0 and Q' 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65281-88E4-407B-8534-BF785353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90900"/>
            <a:ext cx="499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The second side is ON and the first side is OFF.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D0FEE-0558-4A5D-96A8-051B7908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48100"/>
            <a:ext cx="567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This state also stays fixed until a new trigger is given.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775F5-9E05-4DD0-8D68-3F0D34BA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82100"/>
            <a:ext cx="821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Important point: the circuit remembers its last state. That is why it is used as a memory element.</a:t>
            </a:r>
          </a:p>
        </p:txBody>
      </p:sp>
    </p:spTree>
    <p:extLst>
      <p:ext uri="{BB962C8B-B14F-4D97-AF65-F5344CB8AC3E}">
        <p14:creationId xmlns:p14="http://schemas.microsoft.com/office/powerpoint/2010/main" val="62205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62C3EC-DC35-49C2-AA2C-7A8165AB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How Does It Work?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EB50C93-BC7C-4BE2-8845-39BE2956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A5A6F1-2B8C-4B7C-8B5C-E35032B2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4229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Simple step-by-step working of the circuit.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A76FE-DCFF-4364-A0C6-698EC11A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85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2410C"/>
                </a:solidFill>
              </a:defRPr>
            </a:pPr>
            <a:r>
              <a:rPr sz="3150" b="1">
                <a:solidFill>
                  <a:srgbClr val="C2410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383E3-9CB8-45E9-8D0F-19949A87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86000"/>
            <a:ext cx="1548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172A"/>
                </a:solidFill>
              </a:defRPr>
            </a:pPr>
            <a:r>
              <a:rPr sz="2100">
                <a:solidFill>
                  <a:srgbClr val="0F172A"/>
                </a:solidFill>
              </a:rPr>
              <a:t>Power is applied to the circuit.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4F379-A000-49A5-9869-06E7F455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85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2410C"/>
                </a:solidFill>
              </a:defRPr>
            </a:pPr>
            <a:r>
              <a:rPr sz="3150" b="1">
                <a:solidFill>
                  <a:srgbClr val="C2410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C4356-A126-448B-BF90-C37CB261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57500"/>
            <a:ext cx="1548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172A"/>
                </a:solidFill>
              </a:defRPr>
            </a:pPr>
            <a:r>
              <a:rPr sz="2100">
                <a:solidFill>
                  <a:srgbClr val="0F172A"/>
                </a:solidFill>
              </a:rPr>
              <a:t>Because of feedback, one side becomes stronger and turns ON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0B69C-8FBF-457B-BFD5-3B6AB3E4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85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2410C"/>
                </a:solidFill>
              </a:defRPr>
            </a:pPr>
            <a:r>
              <a:rPr sz="3150" b="1">
                <a:solidFill>
                  <a:srgbClr val="C2410C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393F2-F174-4C13-A950-4453E5A6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29000"/>
            <a:ext cx="1548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172A"/>
                </a:solidFill>
              </a:defRPr>
            </a:pPr>
            <a:r>
              <a:rPr sz="2100">
                <a:solidFill>
                  <a:srgbClr val="0F172A"/>
                </a:solidFill>
              </a:rPr>
              <a:t>A set pulse can move the circuit to one stable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52DB2-8025-48B3-88C2-67CE4E9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85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2410C"/>
                </a:solidFill>
              </a:defRPr>
            </a:pPr>
            <a:r>
              <a:rPr sz="3150" b="1">
                <a:solidFill>
                  <a:srgbClr val="C2410C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88373-C615-4981-8529-25D8AD3A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00500"/>
            <a:ext cx="1548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172A"/>
                </a:solidFill>
              </a:defRPr>
            </a:pPr>
            <a:r>
              <a:rPr sz="2100">
                <a:solidFill>
                  <a:srgbClr val="0F172A"/>
                </a:solidFill>
              </a:rPr>
              <a:t>A reset pulse can move it to the other stable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54F19-C871-4D75-9BE0-1779DE0D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85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2410C"/>
                </a:solidFill>
              </a:defRPr>
            </a:pPr>
            <a:r>
              <a:rPr sz="3150" b="1">
                <a:solidFill>
                  <a:srgbClr val="C2410C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57A59-ADDC-48C5-9AB0-70660D2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0"/>
            <a:ext cx="1548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172A"/>
                </a:solidFill>
              </a:defRPr>
            </a:pPr>
            <a:r>
              <a:rPr sz="2100">
                <a:solidFill>
                  <a:srgbClr val="0F172A"/>
                </a:solidFill>
              </a:rPr>
              <a:t>Without a new pulse, the output stays unchanged.</a:t>
            </a:r>
          </a:p>
        </p:txBody>
      </p:sp>
    </p:spTree>
    <p:extLst>
      <p:ext uri="{BB962C8B-B14F-4D97-AF65-F5344CB8AC3E}">
        <p14:creationId xmlns:p14="http://schemas.microsoft.com/office/powerpoint/2010/main" val="1071624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AB884F-8A2F-4F05-945C-55F88388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Set And Reset Action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26BF30-C9D1-49EB-BDB1-147F286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25BFB05-E1B8-4391-8ADE-F0E3E28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6229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This is the simple behavior of a basic SR bistable multivibrator.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7224C-B53F-47FA-9A3C-C067AB3F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B929F-E0B5-4D9E-993B-A2005165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040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9B3D1-2974-4615-A0C8-A7E2E31E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67AED-C051-4D60-B772-C60F86D2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590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Set input is active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D135A-163B-4138-B08A-D4F647A0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040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Q becomes 1 and the circuit goes to the set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E6089-6EC5-4732-AD99-3724C0C4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657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5D2E7-37A1-4257-AA5D-F05AD361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590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Reset input is active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EE4DC-A99A-405F-8649-63A820CF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29050"/>
            <a:ext cx="1040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Q becomes 0 and the circuit goes to the reset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8C11D-A6B4-492E-9906-B93E0FA2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657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42E09-F202-45A8-95BB-22D61585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590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No input pulse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13511-2571-48B3-A4A6-FA90C2DA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29150"/>
            <a:ext cx="1040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The previous state remains stored.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ED1F4-B572-4793-AB03-B938FF83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657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2B060-4E62-4BF9-A4FC-0D16A35A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590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Both inputs active together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70CB0-4366-4E1D-85D6-3CCC4438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10200"/>
            <a:ext cx="1040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This condition is usually avoided in a basic SR circuit.</a:t>
            </a:r>
          </a:p>
        </p:txBody>
      </p:sp>
    </p:spTree>
    <p:extLst>
      <p:ext uri="{BB962C8B-B14F-4D97-AF65-F5344CB8AC3E}">
        <p14:creationId xmlns:p14="http://schemas.microsoft.com/office/powerpoint/2010/main" val="594061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29768A-73AE-4A78-96EA-58DCE04F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Main Circuit Idea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056E967-ACD7-4D7D-AC07-B56FEA84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27BF458-6549-4837-825D-4CC8943C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621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Feedback between two sections creates the two stable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43EFF-B7CA-4B1C-B894-057D103D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65913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6534"/>
                </a:solidFill>
              </a:defRPr>
            </a:pPr>
            <a:r>
              <a:rPr sz="3000" b="1">
                <a:solidFill>
                  <a:srgbClr val="166534"/>
                </a:solidFill>
              </a:rPr>
              <a:t>Output of one side goes to the other side, and the second side feeds back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9770B-E989-47FD-B01F-2C9E313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5086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It may be built using transistors or logic gates.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5DB3F-417A-4597-89E1-3BA32F77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518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Cross-coupled feedback keeps the state 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74845-9742-4419-9B7B-22265FFE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680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A trigger pulse breaks the old balance and makes a new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27D83-0E5D-400E-9589-BA40EB3A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5772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That is why the circuit acts like a small memory unit.</a:t>
            </a:r>
          </a:p>
        </p:txBody>
      </p:sp>
    </p:spTree>
    <p:extLst>
      <p:ext uri="{BB962C8B-B14F-4D97-AF65-F5344CB8AC3E}">
        <p14:creationId xmlns:p14="http://schemas.microsoft.com/office/powerpoint/2010/main" val="1998388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47A397-8385-41DB-B7FC-CD7079DA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Applications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C973FD-743B-4FFE-BC59-F5109E1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896B226-8B9B-4912-8528-CB187523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388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Where a bistable multivibrator is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BE1B6-2D33-4EEF-8E7C-A2A69C82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571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D4ED8"/>
                </a:solidFill>
              </a:defRPr>
            </a:pPr>
            <a:r>
              <a:rPr sz="3000" b="1">
                <a:solidFill>
                  <a:srgbClr val="1D4ED8"/>
                </a:solidFill>
              </a:rPr>
              <a:t>Memory circuits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80C1C-D8A7-401A-AB9D-DE106600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07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Used to store one bit of data in digital systems.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B257D-8FB4-4270-9082-8BB39113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76450"/>
            <a:ext cx="1409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D4ED8"/>
                </a:solidFill>
              </a:defRPr>
            </a:pPr>
            <a:r>
              <a:rPr sz="3000" b="1">
                <a:solidFill>
                  <a:srgbClr val="1D4ED8"/>
                </a:solidFill>
              </a:rPr>
              <a:t>Counters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68BB1-6900-4D79-8E2C-F400DADD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52700"/>
            <a:ext cx="4933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Helps in counting pulses in electronic devices.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F57C7-0ECB-4108-9252-ED0FC243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990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D4ED8"/>
                </a:solidFill>
              </a:defRPr>
            </a:pPr>
            <a:r>
              <a:rPr sz="3000" b="1">
                <a:solidFill>
                  <a:srgbClr val="1D4ED8"/>
                </a:solidFill>
              </a:rPr>
              <a:t>Switch debouncing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4433B-7588-4558-BE70-FE1FAF6F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381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Removes false switching caused by noisy push buttons.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A11DB-C0B8-4FAB-A42D-D6D0CDD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90950"/>
            <a:ext cx="4533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D4ED8"/>
                </a:solidFill>
              </a:defRPr>
            </a:pPr>
            <a:r>
              <a:rPr sz="3000" b="1">
                <a:solidFill>
                  <a:srgbClr val="1D4ED8"/>
                </a:solidFill>
              </a:rPr>
              <a:t>Registers and control circuits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4CE4C-7C88-4461-BD9A-0301BE65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48200"/>
            <a:ext cx="434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Used in many digital control and storage blocks.</a:t>
            </a:r>
          </a:p>
        </p:txBody>
      </p:sp>
    </p:spTree>
    <p:extLst>
      <p:ext uri="{BB962C8B-B14F-4D97-AF65-F5344CB8AC3E}">
        <p14:creationId xmlns:p14="http://schemas.microsoft.com/office/powerpoint/2010/main" val="1947668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26CC7F-3E15-4F30-848D-5558E677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Advantages And Limitations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B6D8ED2-4C04-4DB2-8EEF-830C7039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A1A43F-0739-4777-A066-7692FC23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97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A short summary for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324D1-D660-424D-B9B5-32E761A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8288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6534"/>
                </a:solidFill>
              </a:defRPr>
            </a:pPr>
            <a:r>
              <a:rPr sz="3000" b="1">
                <a:solidFill>
                  <a:srgbClr val="166534"/>
                </a:solidFill>
              </a:rPr>
              <a:t>Advantages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F39FC-5DD8-40A5-9D1B-CCA5A283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Simple and easy to understand.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7DBB0-C8D8-4BA8-AA43-E5C00AFE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Stores one bit of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C36C2-44A6-4EC4-8937-F9283CE4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495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Gives a stable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588AF-E9F3-4DA8-AC9B-3E1C2AF1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638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Very useful in digital electronics.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ADF4F-A74F-46A8-BA67-E3EA7883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76450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91C1C"/>
                </a:solidFill>
              </a:defRPr>
            </a:pPr>
            <a:r>
              <a:rPr sz="3000" b="1">
                <a:solidFill>
                  <a:srgbClr val="B91C1C"/>
                </a:solidFill>
              </a:rPr>
              <a:t>Limitations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4B44F-E64E-4058-B6A9-5ACCD17B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28900"/>
            <a:ext cx="421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Needs a trigger pulse to change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757BC-4B90-4032-8A40-1F215451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525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Basic SR type has an unwanted input condition.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2D97E-BD63-4285-97A9-56E76A5D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719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- It is not used for continuous oscillation.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B4BEF-1856-4DFA-B423-EF8A2ECE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82100"/>
            <a:ext cx="821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Conclusion: a bistable multivibrator is a two-state memory circuit and is one of the basic building blocks of digital electronics.</a:t>
            </a:r>
          </a:p>
        </p:txBody>
      </p:sp>
    </p:spTree>
    <p:extLst>
      <p:ext uri="{BB962C8B-B14F-4D97-AF65-F5344CB8AC3E}">
        <p14:creationId xmlns:p14="http://schemas.microsoft.com/office/powerpoint/2010/main" val="1425549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2026-04-26T15:10:45.7810000Z</dcterms:created>
  <dcterms:modified xsi:type="dcterms:W3CDTF">2026-04-26T15:10:45.7810000Z</dcterms:modified>
</coreProperties>
</file>